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Inter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Inter"/>
              </a:rPr>
              <a:t>Investimento por item (R$ mil)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 mil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0C0F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0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Subsídio às Frotas</c:v>
                  </c:pt>
                  <c:pt idx="1">
                    <c:v>Marketing</c:v>
                  </c:pt>
                  <c:pt idx="2">
                    <c:v>Seguro de RC</c:v>
                  </c:pt>
                  <c:pt idx="3">
                    <c:v>Contingência</c:v>
                  </c:pt>
                  <c:pt idx="4">
                    <c:v>Infra e ferramentas</c:v>
                  </c:pt>
                  <c:pt idx="5">
                    <c:v>Jurídico</c:v>
                  </c:pt>
                  <c:pt idx="6">
                    <c:v>Constituição e contab.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12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0C0F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0C0F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Inter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Inter"/>
              </a:rPr>
              <a:t>Corridas por mês para o equilíbrio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Corridas/mês</c:v>
                </c:pt>
              </c:strCache>
            </c:strRef>
          </c:tx>
          <c:spPr>
            <a:solidFill>
              <a:srgbClr val="1416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0C0F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16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02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 · maturidade</c:v>
                  </c:pt>
                  <c:pt idx="1">
                    <c:v>A · início</c:v>
                  </c:pt>
                  <c:pt idx="2">
                    <c:v>B · maturidade</c:v>
                  </c:pt>
                  <c:pt idx="3">
                    <c:v>Meta mês 3 (mín.)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</c:v>
                </c:pt>
                <c:pt idx="1">
                  <c:v>212</c:v>
                </c:pt>
                <c:pt idx="2">
                  <c:v>375</c:v>
                </c:pt>
                <c:pt idx="3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0C0F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0C0F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9CFD9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GUINCHEI · CUSTOS E RECEITAS DO MVP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A3B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STARTUPS · UCB · ENGENHARIA DE SOFTWARE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Custos e receitas do MVP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Guinchei · reboque sob demanda no Distrito Federal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9C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direcionais, ainda não validados em campo</a:t>
            </a:r>
            <a:endParaRPr lang="en-US" sz="1600" dirty="0"/>
          </a:p>
        </p:txBody>
      </p:sp>
      <p:sp>
        <p:nvSpPr>
          <p:cNvPr id="5" name="Marca"/>
          <p:cNvSpPr/>
          <p:nvPr/>
        </p:nvSpPr>
        <p:spPr>
          <a:xfrm>
            <a:off x="640080" y="4160520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Guinchei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Resumo em quatro números</a:t>
            </a:r>
            <a:endParaRPr lang="en-US" sz="3000" dirty="0"/>
          </a:p>
        </p:txBody>
      </p:sp>
      <p:sp>
        <p:nvSpPr>
          <p:cNvPr id="3" name="Indicador 1"/>
          <p:cNvSpPr/>
          <p:nvPr/>
        </p:nvSpPr>
        <p:spPr>
          <a:xfrm>
            <a:off x="457200" y="1371600"/>
            <a:ext cx="1828800" cy="2286000"/>
          </a:xfrm>
          <a:prstGeom prst="rect">
            <a:avLst/>
          </a:prstGeom>
          <a:solidFill>
            <a:srgbClr val="14161B"/>
          </a:solidFill>
          <a:ln w="9525">
            <a:solidFill>
              <a:srgbClr val="1416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69164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R$ 65 mil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51460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Investimento do MVP em 6 meses</a:t>
            </a:r>
            <a:endParaRPr lang="en-US" sz="1400" dirty="0"/>
          </a:p>
        </p:txBody>
      </p:sp>
      <p:sp>
        <p:nvSpPr>
          <p:cNvPr id="6" name="Indicador 2"/>
          <p:cNvSpPr/>
          <p:nvPr/>
        </p:nvSpPr>
        <p:spPr>
          <a:xfrm>
            <a:off x="2590495" y="1371600"/>
            <a:ext cx="1828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55087" y="169164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R$ 10,8 mil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55087" y="251460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médio por mês</a:t>
            </a:r>
            <a:endParaRPr lang="en-US" sz="1400" dirty="0"/>
          </a:p>
        </p:txBody>
      </p:sp>
      <p:sp>
        <p:nvSpPr>
          <p:cNvPr id="9" name="Indicador 3"/>
          <p:cNvSpPr/>
          <p:nvPr/>
        </p:nvSpPr>
        <p:spPr>
          <a:xfrm>
            <a:off x="4723790" y="1371600"/>
            <a:ext cx="1828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88382" y="169164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R$ 60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88382" y="251460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Comissão por Corrida (20% de R$ 300)</a:t>
            </a:r>
            <a:endParaRPr lang="en-US" sz="1400" dirty="0"/>
          </a:p>
        </p:txBody>
      </p:sp>
      <p:sp>
        <p:nvSpPr>
          <p:cNvPr id="12" name="Indicador 4"/>
          <p:cNvSpPr/>
          <p:nvPr/>
        </p:nvSpPr>
        <p:spPr>
          <a:xfrm>
            <a:off x="6857086" y="1371600"/>
            <a:ext cx="1828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21678" y="169164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115–212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021678" y="251460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Corridas por mês para o equilíbrio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desenvolvimento é feito pelos 6 fundadores: custo de oportunidade, não caixa. Receita principal: comissão de 20% sobre cada Corrida.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Onde vão os R$ 65 mil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estaque subsídio"/>
          <p:cNvSpPr/>
          <p:nvPr/>
        </p:nvSpPr>
        <p:spPr>
          <a:xfrm>
            <a:off x="6126480" y="1371600"/>
            <a:ext cx="2560320" cy="1600200"/>
          </a:xfrm>
          <a:prstGeom prst="rect">
            <a:avLst/>
          </a:prstGeom>
          <a:solidFill>
            <a:srgbClr val="14161B"/>
          </a:solidFill>
          <a:ln w="9525">
            <a:solidFill>
              <a:srgbClr val="1416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28%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vai para o subsídio de 3 Frotas âncora por 90 dias</a:t>
            </a:r>
            <a:endParaRPr lang="en-US" sz="1300" dirty="0"/>
          </a:p>
        </p:txBody>
      </p:sp>
      <p:sp>
        <p:nvSpPr>
          <p:cNvPr id="7" name="Nota dev"/>
          <p:cNvSpPr/>
          <p:nvPr/>
        </p:nvSpPr>
        <p:spPr>
          <a:xfrm>
            <a:off x="6126480" y="3154680"/>
            <a:ext cx="2560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desenvolvimento: feito pelos fundadores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técnica e custo de ferramentas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24688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Camada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Tecnologia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Custo mensal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Front-end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React, Vite, PWA (3 apps)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Hospedagem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Vercel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R$ 0 a ~110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Back-end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Supabase (Postgres, Auth, Storage, Realtime)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R$ 0 a ~140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Mapas e rotas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Mapbox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R$ 0 na cota gratuita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Código por WhatsApp/SMS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~R$ 0,30 por código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Pagamento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PSP com split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~3% por Corrida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Domínio e testes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Registro.br, Vitest, Playwright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0C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R$ 40 por ano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otal ferramentas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4161B"/>
          </a:solidFill>
          <a:ln w="9525">
            <a:solidFill>
              <a:srgbClr val="1416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R$ 250–500 por mês</a:t>
            </a:r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em ferramentas, dentro da verba de R$ 7.000 do semestre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988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Preços estimados (dólar ≈ R$ 5,50); confirmar com cotação.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Adequação a normas: quem paga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457200" y="1234440"/>
            <a:ext cx="2560320" cy="3246120"/>
          </a:xfrm>
          <a:prstGeom prst="rect">
            <a:avLst/>
          </a:prstGeom>
          <a:solidFill>
            <a:srgbClr val="14161B"/>
          </a:solidFill>
          <a:ln w="9525">
            <a:solidFill>
              <a:srgbClr val="1416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3B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PLATAFORMA PAGA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R$ 20 mil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Constituição e contabilidade: R$ 5.000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Jurídico e LGPD: R$ 6.000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Seguro de RC da operação: R$ 9.000</a:t>
            </a:r>
            <a:endParaRPr lang="en-US" sz="1300" dirty="0"/>
          </a:p>
        </p:txBody>
      </p:sp>
      <p:sp>
        <p:nvSpPr>
          <p:cNvPr id="7" name="Coluna 2"/>
          <p:cNvSpPr/>
          <p:nvPr/>
        </p:nvSpPr>
        <p:spPr>
          <a:xfrm>
            <a:off x="3291840" y="1234440"/>
            <a:ext cx="25603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FROTA PAGA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373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Apólice de avaria em transporte, com o Guinchei como cossegurado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 manual: CNPJ, DETRAN, CNH e apólice (custa horas, não caixa)</a:t>
            </a:r>
            <a:endParaRPr lang="en-US" sz="1300" dirty="0"/>
          </a:p>
        </p:txBody>
      </p:sp>
      <p:sp>
        <p:nvSpPr>
          <p:cNvPr id="10" name="Coluna 3"/>
          <p:cNvSpPr/>
          <p:nvPr/>
        </p:nvSpPr>
        <p:spPr>
          <a:xfrm>
            <a:off x="6126480" y="1234440"/>
            <a:ext cx="25603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EVITADO POR DESENHO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7373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PSP com split: sem autorização do Banco Central (capital mínimo R$ 2 mi)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Corridas no DF: sem regime ANTT, RNTRC e CT-e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 médio por mês e por Corrida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MÊS</a:t>
            </a:r>
            <a:endParaRPr lang="en-US" sz="1000" dirty="0"/>
          </a:p>
        </p:txBody>
      </p:sp>
      <p:sp>
        <p:nvSpPr>
          <p:cNvPr id="4" name="Hero mensal"/>
          <p:cNvSpPr/>
          <p:nvPr/>
        </p:nvSpPr>
        <p:spPr>
          <a:xfrm>
            <a:off x="457200" y="1508760"/>
            <a:ext cx="3931920" cy="1188720"/>
          </a:xfrm>
          <a:prstGeom prst="rect">
            <a:avLst/>
          </a:prstGeom>
          <a:solidFill>
            <a:srgbClr val="14161B"/>
          </a:solidFill>
          <a:ln w="9525">
            <a:solidFill>
              <a:srgbClr val="1416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 R$ 10,8 mil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do MVP: R$ 65 mil ÷ 6 meses</a:t>
            </a:r>
            <a:endParaRPr lang="en-US" sz="1300" dirty="0"/>
          </a:p>
        </p:txBody>
      </p:sp>
      <p:sp>
        <p:nvSpPr>
          <p:cNvPr id="7" name="Fixos 1"/>
          <p:cNvSpPr/>
          <p:nvPr/>
        </p:nvSpPr>
        <p:spPr>
          <a:xfrm>
            <a:off x="457200" y="2880360"/>
            <a:ext cx="1920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R$ 5,5 mil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611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Fixos sem pró-labore (cenário A)</a:t>
            </a:r>
            <a:endParaRPr lang="en-US" sz="1300" dirty="0"/>
          </a:p>
        </p:txBody>
      </p:sp>
      <p:sp>
        <p:nvSpPr>
          <p:cNvPr id="10" name="Fixos 2"/>
          <p:cNvSpPr/>
          <p:nvPr/>
        </p:nvSpPr>
        <p:spPr>
          <a:xfrm>
            <a:off x="2468880" y="2880360"/>
            <a:ext cx="1920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R$ 18 mil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611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Fixos com 2 contratações (cenário B)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188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CORRIDA (TICKET R$ 300)</a:t>
            </a:r>
            <a:endParaRPr lang="en-US" sz="1000" dirty="0"/>
          </a:p>
        </p:txBody>
      </p:sp>
      <p:sp>
        <p:nvSpPr>
          <p:cNvPr id="14" name="Custo por Corrida"/>
          <p:cNvSpPr/>
          <p:nvPr/>
        </p:nvSpPr>
        <p:spPr>
          <a:xfrm>
            <a:off x="4754880" y="1508760"/>
            <a:ext cx="39319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Repasse ao Guincheiro (80%)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R$ 240</a:t>
            </a:r>
            <a:endParaRPr lang="en-US" sz="1400" dirty="0"/>
          </a:p>
        </p:txBody>
      </p:sp>
      <p:sp>
        <p:nvSpPr>
          <p:cNvPr id="17" name="Divisor 1"/>
          <p:cNvSpPr/>
          <p:nvPr/>
        </p:nvSpPr>
        <p:spPr>
          <a:xfrm>
            <a:off x="4937760" y="2121408"/>
            <a:ext cx="356616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21762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 (~3%)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1762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R$ 9</a:t>
            </a:r>
            <a:endParaRPr lang="en-US" sz="1400" dirty="0"/>
          </a:p>
        </p:txBody>
      </p:sp>
      <p:sp>
        <p:nvSpPr>
          <p:cNvPr id="20" name="Divisor 2"/>
          <p:cNvSpPr/>
          <p:nvPr/>
        </p:nvSpPr>
        <p:spPr>
          <a:xfrm>
            <a:off x="4937760" y="2651760"/>
            <a:ext cx="356616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7066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Subsídio, meses 1–6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7066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R$ 25</a:t>
            </a:r>
            <a:endParaRPr lang="en-US" sz="1400" dirty="0"/>
          </a:p>
        </p:txBody>
      </p:sp>
      <p:sp>
        <p:nvSpPr>
          <p:cNvPr id="23" name="Divisor 3"/>
          <p:cNvSpPr/>
          <p:nvPr/>
        </p:nvSpPr>
        <p:spPr>
          <a:xfrm>
            <a:off x="4937760" y="3182112"/>
            <a:ext cx="356616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2369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por Corrida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2369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definir</a:t>
            </a:r>
            <a:endParaRPr lang="en-US" sz="1400" dirty="0"/>
          </a:p>
        </p:txBody>
      </p:sp>
      <p:sp>
        <p:nvSpPr>
          <p:cNvPr id="26" name="Divisor 4"/>
          <p:cNvSpPr/>
          <p:nvPr/>
        </p:nvSpPr>
        <p:spPr>
          <a:xfrm>
            <a:off x="4937760" y="3712464"/>
            <a:ext cx="356616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e Disputa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3767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medido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onde vem a receita</a:t>
            </a:r>
            <a:endParaRPr lang="en-US" sz="3000" dirty="0"/>
          </a:p>
        </p:txBody>
      </p:sp>
      <p:sp>
        <p:nvSpPr>
          <p:cNvPr id="3" name="Fonte 1"/>
          <p:cNvSpPr/>
          <p:nvPr/>
        </p:nvSpPr>
        <p:spPr>
          <a:xfrm>
            <a:off x="457200" y="1234440"/>
            <a:ext cx="2560320" cy="2331720"/>
          </a:xfrm>
          <a:prstGeom prst="rect">
            <a:avLst/>
          </a:prstGeom>
          <a:solidFill>
            <a:srgbClr val="14161B"/>
          </a:solidFill>
          <a:ln w="9525">
            <a:solidFill>
              <a:srgbClr val="1416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3B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1 · MVP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Comissão de 20%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R$ 60 por Corrida de R$ 300, sem custo de entrada para o Guincheiro</a:t>
            </a:r>
            <a:endParaRPr lang="en-US" sz="1300" dirty="0"/>
          </a:p>
        </p:txBody>
      </p:sp>
      <p:sp>
        <p:nvSpPr>
          <p:cNvPr id="7" name="Fonte 2"/>
          <p:cNvSpPr/>
          <p:nvPr/>
        </p:nvSpPr>
        <p:spPr>
          <a:xfrm>
            <a:off x="3291840" y="1234440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Assistência completa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Bateria, pneu, pane seca e chaveiro, com a mesma comissão</a:t>
            </a:r>
            <a:endParaRPr lang="en-US" sz="1300" dirty="0"/>
          </a:p>
        </p:txBody>
      </p:sp>
      <p:sp>
        <p:nvSpPr>
          <p:cNvPr id="11" name="Fonte 3"/>
          <p:cNvSpPr/>
          <p:nvPr/>
        </p:nvSpPr>
        <p:spPr>
          <a:xfrm>
            <a:off x="6126480" y="1234440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Contratos B2B2C e novas praças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Seguradoras e assistências 24h (recorrente); Goiânia e entorno</a:t>
            </a:r>
            <a:endParaRPr lang="en-US" sz="1300" dirty="0"/>
          </a:p>
        </p:txBody>
      </p:sp>
      <p:sp>
        <p:nvSpPr>
          <p:cNvPr id="15" name="Capital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 de capital, não receita: </a:t>
            </a:r>
            <a:pPr indent="0" marL="0">
              <a:buNone/>
            </a:pPr>
            <a:r>
              <a:rPr lang="en-US" sz="13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bootstrapping, incubação UCB, editais (FAP-DF, FINEP, Sebrae), anjo e pré-seed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Quanto sobra em cada Corrida</a:t>
            </a:r>
            <a:endParaRPr lang="en-US" sz="3000" dirty="0"/>
          </a:p>
        </p:txBody>
      </p:sp>
      <p:sp>
        <p:nvSpPr>
          <p:cNvPr id="3" name="Etapa 1"/>
          <p:cNvSpPr/>
          <p:nvPr/>
        </p:nvSpPr>
        <p:spPr>
          <a:xfrm>
            <a:off x="457200" y="1280160"/>
            <a:ext cx="1783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TICKET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R$ 300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28016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Etapa 2"/>
          <p:cNvSpPr/>
          <p:nvPr/>
        </p:nvSpPr>
        <p:spPr>
          <a:xfrm>
            <a:off x="2606040" y="1280160"/>
            <a:ext cx="1783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417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COMISSÃO 20%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R$ 60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128016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Etapa 3"/>
          <p:cNvSpPr/>
          <p:nvPr/>
        </p:nvSpPr>
        <p:spPr>
          <a:xfrm>
            <a:off x="4754880" y="1280160"/>
            <a:ext cx="1783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17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PROCESSAMENTO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 R$ 9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128016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Etapa 4"/>
          <p:cNvSpPr/>
          <p:nvPr/>
        </p:nvSpPr>
        <p:spPr>
          <a:xfrm>
            <a:off x="6903720" y="1280160"/>
            <a:ext cx="1783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417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LÍQUIDO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R$ 51</a:t>
            </a:r>
            <a:endParaRPr lang="en-US" sz="2600" dirty="0"/>
          </a:p>
        </p:txBody>
      </p:sp>
      <p:sp>
        <p:nvSpPr>
          <p:cNvPr id="18" name="Contribuição inicial"/>
          <p:cNvSpPr/>
          <p:nvPr/>
        </p:nvSpPr>
        <p:spPr>
          <a:xfrm>
            <a:off x="457200" y="283464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INÍCIO · COM SUBSÍDIO DE R$ 25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 R$ 26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Corrida nos meses 1–6</a:t>
            </a:r>
            <a:endParaRPr lang="en-US" sz="1300" dirty="0"/>
          </a:p>
        </p:txBody>
      </p:sp>
      <p:sp>
        <p:nvSpPr>
          <p:cNvPr id="22" name="Contribuição madura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14161B"/>
          </a:solidFill>
          <a:ln w="9525">
            <a:solidFill>
              <a:srgbClr val="1416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3B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MATURIDADE · SEM SUBSÍDIO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 R$ 48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Corrida, antes do opex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Equilíbrio e projeção de volume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8463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jeção Mês 3"/>
          <p:cNvSpPr/>
          <p:nvPr/>
        </p:nvSpPr>
        <p:spPr>
          <a:xfrm>
            <a:off x="5577840" y="1280160"/>
            <a:ext cx="3108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MÊS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300–500 Corridas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R$ 24 mil de receita por mês</a:t>
            </a:r>
            <a:endParaRPr lang="en-US" sz="1300" dirty="0"/>
          </a:p>
        </p:txBody>
      </p:sp>
      <p:sp>
        <p:nvSpPr>
          <p:cNvPr id="8" name="Projeção Mês 12"/>
          <p:cNvSpPr/>
          <p:nvPr/>
        </p:nvSpPr>
        <p:spPr>
          <a:xfrm>
            <a:off x="5577840" y="2926080"/>
            <a:ext cx="3108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MÊS 12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 1.500 Corridas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R$ 90 mil por mês; contribuição ≈ R$ 72 mil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Riscos a considerar</a:t>
            </a:r>
            <a:endParaRPr lang="en-US" sz="3000" dirty="0"/>
          </a:p>
        </p:txBody>
      </p:sp>
      <p:sp>
        <p:nvSpPr>
          <p:cNvPr id="3" name="Risco 1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4" name="Número 1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Hipóteses não validadas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933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Disposição a pagar R$ 300, aceitação dos 20% e chegada em menos de 30 min</a:t>
            </a:r>
            <a:endParaRPr lang="en-US" sz="1300" dirty="0"/>
          </a:p>
        </p:txBody>
      </p:sp>
      <p:sp>
        <p:nvSpPr>
          <p:cNvPr id="8" name="Risco 2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9" name="Número 2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Gatilho de contingência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933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abaixo de 85% ou chegada acima de 40 min aos 90 dias reduz a área de cobertura</a:t>
            </a:r>
            <a:endParaRPr lang="en-US" sz="1300" dirty="0"/>
          </a:p>
        </p:txBody>
      </p:sp>
      <p:sp>
        <p:nvSpPr>
          <p:cNvPr id="13" name="Risco 3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4" name="Número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Avaria de veículo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393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Responsabilidade solidária (CDC); mitigada por seguro, verificação e Fotos de estado</a:t>
            </a:r>
            <a:endParaRPr lang="en-US" sz="1300" dirty="0"/>
          </a:p>
        </p:txBody>
      </p:sp>
      <p:sp>
        <p:nvSpPr>
          <p:cNvPr id="18" name="Risco 4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</p:spPr>
      </p:sp>
      <p:sp>
        <p:nvSpPr>
          <p:cNvPr id="19" name="Número 4"/>
          <p:cNvSpPr/>
          <p:nvPr/>
        </p:nvSpPr>
        <p:spPr>
          <a:xfrm>
            <a:off x="4846320" y="3108960"/>
            <a:ext cx="365760" cy="365760"/>
          </a:xfrm>
          <a:prstGeom prst="ellipse">
            <a:avLst/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Baixa recorrência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393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Reboque é pouco frequente; retenção medida por recompra em 6 a 12 meses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inchei">
  <a:themeElements>
    <a:clrScheme name="Guinchei">
      <a:dk1>
        <a:srgbClr val="0B0C0F"/>
      </a:dk1>
      <a:lt1>
        <a:srgbClr val="F6F7F9"/>
      </a:lt1>
      <a:dk2>
        <a:srgbClr val="14161B"/>
      </a:dk2>
      <a:lt2>
        <a:srgbClr val="FFFFFF"/>
      </a:lt2>
      <a:accent1>
        <a:srgbClr val="FFB020"/>
      </a:accent1>
      <a:accent2>
        <a:srgbClr val="E0940A"/>
      </a:accent2>
      <a:accent3>
        <a:srgbClr val="12B76A"/>
      </a:accent3>
      <a:accent4>
        <a:srgbClr val="F04438"/>
      </a:accent4>
      <a:accent5>
        <a:srgbClr val="2E90FA"/>
      </a:accent5>
      <a:accent6>
        <a:srgbClr val="5B6472"/>
      </a:accent6>
      <a:hlink>
        <a:srgbClr val="2E90FA"/>
      </a:hlink>
      <a:folHlink>
        <a:srgbClr val="5B6472"/>
      </a:folHlink>
    </a:clrScheme>
    <a:fontScheme name="Guinchei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Guinchei — Custos e receitas do MVP</dc:title>
  <dc:subject>PptxGenJS Presentation</dc:subject>
  <dc:creator>Guinchei</dc:creator>
  <cp:lastModifiedBy>Guinchei</cp:lastModifiedBy>
  <cp:revision>1</cp:revision>
  <dcterms:created xsi:type="dcterms:W3CDTF">2026-10-29T01:55:47Z</dcterms:created>
  <dcterms:modified xsi:type="dcterms:W3CDTF">2026-10-29T01:55:47Z</dcterms:modified>
</cp:coreProperties>
</file>